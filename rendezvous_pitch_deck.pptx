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141A"/>
          </a:solidFill>
          <a:ln>
            <a:solidFill>
              <a:srgbClr val="2A1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1">
                <a:solidFill>
                  <a:srgbClr val="FFFFFF"/>
                </a:solidFill>
                <a:latin typeface="Georgia"/>
              </a:rPr>
              <a:t>Rendez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82880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1">
                <a:solidFill>
                  <a:srgbClr val="C9A49A"/>
                </a:solidFill>
                <a:latin typeface="Georgia"/>
              </a:rPr>
              <a:t>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0D4CC"/>
                </a:solidFill>
                <a:latin typeface="Calibri"/>
              </a:rPr>
              <a:t>Plan the day you've imagined.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76"/>
                </a:solidFill>
                <a:latin typeface="Calibri"/>
              </a:rPr>
              <a:t>AI Wedding Concierge  ·  Vancouver, BC  ·  Build-A-Thon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1371600"/>
            <a:ext cx="19050" cy="411480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76"/>
                </a:solidFill>
                <a:latin typeface="Calibri"/>
              </a:rPr>
              <a:t>Replacing hours of fragmented
research with your perfect
shortlist — in minutes.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0A0408"/>
                </a:solidFill>
                <a:latin typeface="Georgia"/>
              </a:rPr>
              <a:t>Wedding planning is broken.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975116" cy="3175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20040" y="1600200"/>
            <a:ext cx="640080" cy="6400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FFFFFF"/>
                </a:solidFill>
              </a:rPr>
              <a:t>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377440"/>
            <a:ext cx="25900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408"/>
                </a:solidFill>
                <a:latin typeface="Calibri"/>
              </a:rPr>
              <a:t>Hours wasted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788920"/>
            <a:ext cx="259003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Couples spend weekends browsing vendors only to find they're over budget or wrong for their needs.</a:t>
            </a:r>
          </a:p>
        </p:txBody>
      </p:sp>
      <p:sp>
        <p:nvSpPr>
          <p:cNvPr id="7" name="Oval 6"/>
          <p:cNvSpPr/>
          <p:nvPr/>
        </p:nvSpPr>
        <p:spPr>
          <a:xfrm>
            <a:off x="3367278" y="1600200"/>
            <a:ext cx="640080" cy="6400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7278" y="2377440"/>
            <a:ext cx="25900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408"/>
                </a:solidFill>
                <a:latin typeface="Calibri"/>
              </a:rPr>
              <a:t>Opaque 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7278" y="2788920"/>
            <a:ext cx="259003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88% of vendors hide real pricing. Couples spend $3,000 on venue tours before getting a single honest quote.</a:t>
            </a:r>
          </a:p>
        </p:txBody>
      </p:sp>
      <p:sp>
        <p:nvSpPr>
          <p:cNvPr id="10" name="Oval 9"/>
          <p:cNvSpPr/>
          <p:nvPr/>
        </p:nvSpPr>
        <p:spPr>
          <a:xfrm>
            <a:off x="6414516" y="1600200"/>
            <a:ext cx="640080" cy="6400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377440"/>
            <a:ext cx="25900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408"/>
                </a:solidFill>
                <a:latin typeface="Calibri"/>
              </a:rPr>
              <a:t>Fragmented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788920"/>
            <a:ext cx="259003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Planning lives across 6+ apps — Google Sheets, Pinterest, Instagram, email. Nothing connects.</a:t>
            </a:r>
          </a:p>
        </p:txBody>
      </p:sp>
      <p:sp>
        <p:nvSpPr>
          <p:cNvPr id="13" name="Oval 12"/>
          <p:cNvSpPr/>
          <p:nvPr/>
        </p:nvSpPr>
        <p:spPr>
          <a:xfrm>
            <a:off x="9461754" y="1600200"/>
            <a:ext cx="640080" cy="6400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1754" y="2377440"/>
            <a:ext cx="25900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408"/>
                </a:solidFill>
                <a:latin typeface="Calibri"/>
              </a:rPr>
              <a:t>Zero personalization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1754" y="2788920"/>
            <a:ext cx="259003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Platforms assume a generic Western wedding. Cultural traditions, guest counts, and budgets are afterthoughts.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212080"/>
            <a:ext cx="10881360" cy="1280160"/>
          </a:xfrm>
          <a:prstGeom prst="rect">
            <a:avLst/>
          </a:prstGeom>
          <a:solidFill>
            <a:srgbClr val="F0E8E2"/>
          </a:solidFill>
          <a:ln>
            <a:solidFill>
              <a:srgbClr val="F0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6B5E5A"/>
                </a:solidFill>
                <a:latin typeface="Calibri"/>
              </a:rPr>
              <a:t>"78% of couples say pricing is the #1 factor when deciding which vendors to contact — yet 88% of vendors still hide their real prices."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A49A"/>
                </a:solidFill>
                <a:latin typeface="Calibri"/>
              </a:rPr>
              <a:t>— WeddingPro 2025 Real Weddings Vendor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0A0408"/>
                </a:solidFill>
                <a:latin typeface="Georgia"/>
              </a:rPr>
              <a:t>A massive, underserved market.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975116" cy="3175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9A49A"/>
                </a:solidFill>
                <a:latin typeface="Georgia"/>
              </a:rPr>
              <a:t>$70B+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E5A"/>
                </a:solidFill>
                <a:latin typeface="Calibri"/>
              </a:rPr>
              <a:t>Global wedding industry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8A9E8C"/>
                </a:solidFill>
                <a:latin typeface="Georgia"/>
              </a:rPr>
              <a:t>$8.5B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E5A"/>
                </a:solidFill>
                <a:latin typeface="Calibri"/>
              </a:rPr>
              <a:t>North American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B8964A"/>
                </a:solidFill>
                <a:latin typeface="Georgia"/>
              </a:rPr>
              <a:t>2.5M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E5A"/>
                </a:solidFill>
                <a:latin typeface="Calibri"/>
              </a:rPr>
              <a:t>US + Canadian weddings per 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9A49A"/>
                </a:solidFill>
                <a:latin typeface="Georgia"/>
              </a:rPr>
              <a:t>$33K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5E5A"/>
                </a:solidFill>
                <a:latin typeface="Calibri"/>
              </a:rPr>
              <a:t>Average Canadian wedding spend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10881360" cy="12700"/>
          </a:xfrm>
          <a:prstGeom prst="rect">
            <a:avLst/>
          </a:prstGeom>
          <a:solidFill>
            <a:srgbClr val="6B5E5A"/>
          </a:solidFill>
          <a:ln>
            <a:solidFill>
              <a:srgbClr val="6B5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0408"/>
                </a:solidFill>
                <a:latin typeface="Georgia"/>
              </a:rPr>
              <a:t>Why now?</a:t>
            </a:r>
          </a:p>
        </p:txBody>
      </p:sp>
      <p:sp>
        <p:nvSpPr>
          <p:cNvPr id="14" name="Oval 13"/>
          <p:cNvSpPr/>
          <p:nvPr/>
        </p:nvSpPr>
        <p:spPr>
          <a:xfrm>
            <a:off x="320040" y="3840480"/>
            <a:ext cx="640080" cy="6400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617720"/>
            <a:ext cx="36057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408"/>
                </a:solidFill>
                <a:latin typeface="Calibri"/>
              </a:rPr>
              <a:t>AI is 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029200"/>
            <a:ext cx="3605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LLMs now deliver genuinely useful planning guidance. The Knot just launched ChatGPT integration (Feb 2026) — validation the category is moving.</a:t>
            </a:r>
          </a:p>
        </p:txBody>
      </p:sp>
      <p:sp>
        <p:nvSpPr>
          <p:cNvPr id="17" name="Oval 16"/>
          <p:cNvSpPr/>
          <p:nvPr/>
        </p:nvSpPr>
        <p:spPr>
          <a:xfrm>
            <a:off x="4383024" y="3840480"/>
            <a:ext cx="640080" cy="6400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FFFFFF"/>
                </a:solidFill>
              </a:rPr>
              <a:t>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3024" y="4617720"/>
            <a:ext cx="36057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408"/>
                </a:solidFill>
                <a:latin typeface="Calibri"/>
              </a:rPr>
              <a:t>Couples are frustrated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5029200"/>
            <a:ext cx="3605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Reddit r/weddingplanning has 1M+ members — couples actively fleeing The Knot because of fake reviews and vendor-paid results.</a:t>
            </a:r>
          </a:p>
        </p:txBody>
      </p:sp>
      <p:sp>
        <p:nvSpPr>
          <p:cNvPr id="20" name="Oval 19"/>
          <p:cNvSpPr/>
          <p:nvPr/>
        </p:nvSpPr>
        <p:spPr>
          <a:xfrm>
            <a:off x="8446008" y="3840480"/>
            <a:ext cx="640080" cy="6400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FFFFFF"/>
                </a:solidFill>
              </a:rPr>
              <a:t>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6008" y="4617720"/>
            <a:ext cx="36057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408"/>
                </a:solidFill>
                <a:latin typeface="Calibri"/>
              </a:rPr>
              <a:t>Local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6008" y="5029200"/>
            <a:ext cx="3605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A tightly scoped Vancouver launch (38 curated vendors) lets us prove the model before scaling — the exact opposite of what incumbents 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0A0408"/>
                </a:solidFill>
                <a:latin typeface="Georgia"/>
              </a:rPr>
              <a:t>Rendezvous: a concierge, not a directory.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975116" cy="3175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B5E5A"/>
                </a:solidFill>
                <a:latin typeface="Calibri"/>
              </a:rPr>
              <a:t>Instead of browsing thousands of vendors, couples answer 4 questions. Rendezvous does the rest — matching vendors by budget, guest count, style, and cultural requirements, then generating a photorealistic vision of their ceremony.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60320"/>
            <a:ext cx="32004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697480"/>
            <a:ext cx="411480" cy="4114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0408"/>
                </a:solidFill>
                <a:latin typeface="Calibri"/>
              </a:rPr>
              <a:t>4-Question Intake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Date, location, guests, budget, style, cultural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3832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C9A49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560320"/>
            <a:ext cx="32004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480560" y="2697480"/>
            <a:ext cx="411480" cy="4114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246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0408"/>
                </a:solidFill>
                <a:latin typeface="Calibri"/>
              </a:rPr>
              <a:t>AI Matching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Scores 38 Vancouver vendors across budget, capacity, style, setting &amp; culture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3832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C9A49A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560320"/>
            <a:ext cx="32004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183880" y="2697480"/>
            <a:ext cx="411480" cy="411480"/>
          </a:xfrm>
          <a:prstGeom prst="ellipse">
            <a:avLst/>
          </a:prstGeom>
          <a:solidFill>
            <a:srgbClr val="C9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246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0408"/>
                </a:solidFill>
                <a:latin typeface="Calibri"/>
              </a:rPr>
              <a:t>Vision Board +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AI-generated ceremony scene + ranked vendor shortlist + budget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49A"/>
                </a:solidFill>
                <a:latin typeface="Georgia"/>
              </a:rPr>
              <a:t>The result: your personalized wedding shortlist in under 5 minutes — instead of 5 weekends.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4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080C"/>
          </a:solidFill>
          <a:ln>
            <a:solidFill>
              <a:srgbClr val="120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8A7A76"/>
                </a:solidFill>
                <a:latin typeface="Calibri"/>
              </a:rPr>
              <a:t>— or pre-recorded walkthrough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CCC6"/>
                </a:solidFill>
                <a:latin typeface="Calibri"/>
              </a:rPr>
              <a:t>① Couple fills in 4-step intake (date, location, guests, budget, style)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CCC6"/>
                </a:solidFill>
                <a:latin typeface="Calibri"/>
              </a:rPr>
              <a:t>② AI generates a photorealistic vision board of their ceremony in real-time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CCC6"/>
                </a:solidFill>
                <a:latin typeface="Calibri"/>
              </a:rPr>
              <a:t>③ Per-category budget sliders — adjust spending → scene regenerates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CCC6"/>
                </a:solidFill>
                <a:latin typeface="Calibri"/>
              </a:rPr>
              <a:t>④ Ranked vendor shortlist: 38 Vancouver vendors scored to their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CCC6"/>
                </a:solidFill>
                <a:latin typeface="Calibri"/>
              </a:rPr>
              <a:t>⑤ Each card shows: price range · capacity · setting · catering · LGBTQ+ friendly · Google 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49A"/>
                </a:solidFill>
                <a:latin typeface="Calibri"/>
              </a:rPr>
              <a:t>rendezvous.vercel.app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0A0408"/>
                </a:solidFill>
                <a:latin typeface="Georgia"/>
              </a:rPr>
              <a:t>Why Rendezvous wins.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975116" cy="3175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3200400" cy="566928"/>
          </a:xfrm>
          <a:prstGeom prst="rect">
            <a:avLst/>
          </a:prstGeom>
          <a:solidFill>
            <a:srgbClr val="EAE0D8"/>
          </a:solidFill>
          <a:ln>
            <a:solidFill>
              <a:srgbClr val="EA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749039" y="1508760"/>
            <a:ext cx="2560320" cy="566928"/>
          </a:xfrm>
          <a:prstGeom prst="rect">
            <a:avLst/>
          </a:prstGeom>
          <a:solidFill>
            <a:srgbClr val="F0E8E2"/>
          </a:solidFill>
          <a:ln>
            <a:solidFill>
              <a:srgbClr val="F0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79" y="1636776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408"/>
                </a:solidFill>
                <a:latin typeface="Calibri"/>
              </a:rPr>
              <a:t>The Knot / WeddingWire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508760"/>
            <a:ext cx="2560320" cy="566928"/>
          </a:xfrm>
          <a:prstGeom prst="rect">
            <a:avLst/>
          </a:prstGeom>
          <a:solidFill>
            <a:srgbClr val="F0E8E2"/>
          </a:solidFill>
          <a:ln>
            <a:solidFill>
              <a:srgbClr val="F0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36776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408"/>
                </a:solidFill>
                <a:latin typeface="Calibri"/>
              </a:rPr>
              <a:t>Zola / Joy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508760"/>
            <a:ext cx="2560320" cy="566928"/>
          </a:xfrm>
          <a:prstGeom prst="rect">
            <a:avLst/>
          </a:prstGeom>
          <a:solidFill>
            <a:srgbClr val="0A0408"/>
          </a:solidFill>
          <a:ln>
            <a:solidFill>
              <a:srgbClr val="0A04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0" y="1636776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Rendezvous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75688"/>
            <a:ext cx="320040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203704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408"/>
                </a:solidFill>
                <a:latin typeface="Calibri"/>
              </a:rPr>
              <a:t>Pricing shown upfront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39" y="2075688"/>
            <a:ext cx="256032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79" y="2203704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Vendors opt-in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75688"/>
            <a:ext cx="256032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203704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Not applicable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2075688"/>
            <a:ext cx="2560320" cy="566928"/>
          </a:xfrm>
          <a:prstGeom prst="rect">
            <a:avLst/>
          </a:prstGeom>
          <a:solidFill>
            <a:srgbClr val="E8F2EA"/>
          </a:solidFill>
          <a:ln>
            <a:solidFill>
              <a:srgbClr val="E8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0" y="2203704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E8C"/>
                </a:solidFill>
                <a:latin typeface="Calibri"/>
              </a:rPr>
              <a:t>✓ Core feature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42616"/>
            <a:ext cx="3200400" cy="566928"/>
          </a:xfrm>
          <a:prstGeom prst="rect">
            <a:avLst/>
          </a:prstGeom>
          <a:solidFill>
            <a:srgbClr val="F5F0EB"/>
          </a:solidFill>
          <a:ln>
            <a:solidFill>
              <a:srgbClr val="F5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2770632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408"/>
                </a:solidFill>
                <a:latin typeface="Calibri"/>
              </a:rPr>
              <a:t>Intake-driven recommendations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39" y="2642616"/>
            <a:ext cx="2560320" cy="566928"/>
          </a:xfrm>
          <a:prstGeom prst="rect">
            <a:avLst/>
          </a:prstGeom>
          <a:solidFill>
            <a:srgbClr val="F5F0EB"/>
          </a:solidFill>
          <a:ln>
            <a:solidFill>
              <a:srgbClr val="F5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79" y="2770632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Browse-and-filter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642616"/>
            <a:ext cx="2560320" cy="566928"/>
          </a:xfrm>
          <a:prstGeom prst="rect">
            <a:avLst/>
          </a:prstGeom>
          <a:solidFill>
            <a:srgbClr val="F5F0EB"/>
          </a:solidFill>
          <a:ln>
            <a:solidFill>
              <a:srgbClr val="F5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2770632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No matching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2642616"/>
            <a:ext cx="2560320" cy="566928"/>
          </a:xfrm>
          <a:prstGeom prst="rect">
            <a:avLst/>
          </a:prstGeom>
          <a:solidFill>
            <a:srgbClr val="E8F2EA"/>
          </a:solidFill>
          <a:ln>
            <a:solidFill>
              <a:srgbClr val="E8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0" y="2770632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E8C"/>
                </a:solidFill>
                <a:latin typeface="Calibri"/>
              </a:rPr>
              <a:t>✓ Budget + guests +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209544"/>
            <a:ext cx="320040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3337560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408"/>
                </a:solidFill>
                <a:latin typeface="Calibri"/>
              </a:rPr>
              <a:t>Multicultural vendor tags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3209544"/>
            <a:ext cx="256032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40479" y="333756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Not supported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209544"/>
            <a:ext cx="256032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333756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Not supported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3209544"/>
            <a:ext cx="2560320" cy="566928"/>
          </a:xfrm>
          <a:prstGeom prst="rect">
            <a:avLst/>
          </a:prstGeom>
          <a:solidFill>
            <a:srgbClr val="E8F2EA"/>
          </a:solidFill>
          <a:ln>
            <a:solidFill>
              <a:srgbClr val="E8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0" y="333756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E8C"/>
                </a:solidFill>
                <a:latin typeface="Calibri"/>
              </a:rPr>
              <a:t>✓ Cultural matching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776472"/>
            <a:ext cx="3200400" cy="566928"/>
          </a:xfrm>
          <a:prstGeom prst="rect">
            <a:avLst/>
          </a:prstGeom>
          <a:solidFill>
            <a:srgbClr val="F5F0EB"/>
          </a:solidFill>
          <a:ln>
            <a:solidFill>
              <a:srgbClr val="F5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3904488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408"/>
                </a:solidFill>
                <a:latin typeface="Calibri"/>
              </a:rPr>
              <a:t>Vendor-pays conflict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3776472"/>
            <a:ext cx="2560320" cy="566928"/>
          </a:xfrm>
          <a:prstGeom prst="rect">
            <a:avLst/>
          </a:prstGeom>
          <a:solidFill>
            <a:srgbClr val="F5F0EB"/>
          </a:solidFill>
          <a:ln>
            <a:solidFill>
              <a:srgbClr val="F5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840479" y="3904488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Reviews suppressed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776472"/>
            <a:ext cx="2560320" cy="566928"/>
          </a:xfrm>
          <a:prstGeom prst="rect">
            <a:avLst/>
          </a:prstGeom>
          <a:solidFill>
            <a:srgbClr val="F5F0EB"/>
          </a:solidFill>
          <a:ln>
            <a:solidFill>
              <a:srgbClr val="F5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92240" y="3904488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5E5A"/>
                </a:solidFill>
                <a:latin typeface="Calibri"/>
              </a:rPr>
              <a:t>— (no marketplace)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2560" y="3776472"/>
            <a:ext cx="2560320" cy="566928"/>
          </a:xfrm>
          <a:prstGeom prst="rect">
            <a:avLst/>
          </a:prstGeom>
          <a:solidFill>
            <a:srgbClr val="E8F2EA"/>
          </a:solidFill>
          <a:ln>
            <a:solidFill>
              <a:srgbClr val="E8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0" y="3904488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E8C"/>
                </a:solidFill>
                <a:latin typeface="Calibri"/>
              </a:rPr>
              <a:t>✓ No vendor advertising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343400"/>
            <a:ext cx="320040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" y="4471416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408"/>
                </a:solidFill>
                <a:latin typeface="Calibri"/>
              </a:rPr>
              <a:t>AI vision board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39" y="4343400"/>
            <a:ext cx="256032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840479" y="4471416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No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4343400"/>
            <a:ext cx="2560320" cy="566928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92240" y="4471416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6060"/>
                </a:solidFill>
                <a:latin typeface="Calibri"/>
              </a:rPr>
              <a:t>✗ 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52560" y="4343400"/>
            <a:ext cx="2560320" cy="566928"/>
          </a:xfrm>
          <a:prstGeom prst="rect">
            <a:avLst/>
          </a:prstGeom>
          <a:solidFill>
            <a:srgbClr val="E8F2EA"/>
          </a:solidFill>
          <a:ln>
            <a:solidFill>
              <a:srgbClr val="E8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144000" y="4471416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E8C"/>
                </a:solidFill>
                <a:latin typeface="Calibri"/>
              </a:rPr>
              <a:t>✓ gpt-image-1 scene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6172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9A49A"/>
                </a:solidFill>
                <a:latin typeface="Georgia"/>
              </a:rPr>
              <a:t>Incumbents are vendor marketplaces with planning tools bolted on. Rendezvous is a couple-first concierge.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0A0408"/>
                </a:solidFill>
                <a:latin typeface="Georgia"/>
              </a:rPr>
              <a:t>Business model.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975116" cy="3175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6B5E5A"/>
                </a:solidFill>
                <a:latin typeface="Calibri"/>
              </a:rPr>
              <a:t>Charge couples. Earn vendor trust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40280"/>
            <a:ext cx="3474720" cy="3474720"/>
          </a:xfrm>
          <a:prstGeom prst="rect">
            <a:avLst/>
          </a:prstGeom>
          <a:solidFill>
            <a:srgbClr val="F8F0EC"/>
          </a:solidFill>
          <a:ln>
            <a:solidFill>
              <a:srgbClr val="F8F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2240280"/>
            <a:ext cx="3474720" cy="54864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49A"/>
                </a:solidFill>
                <a:latin typeface="Calibri"/>
              </a:rPr>
              <a:t>Phase 1
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0408"/>
                </a:solidFill>
                <a:latin typeface="Calibri"/>
              </a:rPr>
              <a:t>Couples — one-time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747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C9A49A"/>
                </a:solidFill>
                <a:latin typeface="Georgia"/>
              </a:rPr>
              <a:t>~$49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062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Free: intake + shortlist + 1 vision board
Paid: AI chat, unlimited regenerations, PDF export, full comparison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240280"/>
            <a:ext cx="347472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3774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5E5A"/>
                </a:solidFill>
                <a:latin typeface="Calibri"/>
              </a:rPr>
              <a:t>Phase 2
6–12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0408"/>
                </a:solidFill>
                <a:latin typeface="Calibri"/>
              </a:rPr>
              <a:t>Vendor referral (gated intro)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747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8A9E8C"/>
                </a:solidFill>
                <a:latin typeface="Georgia"/>
              </a:rPr>
              <a:t>$50–200
per lead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2062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Vendors pay per qualified introduction.
Ranking stays purely by match score — not by who paid more.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2240280"/>
            <a:ext cx="347472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5E5A"/>
                </a:solidFill>
                <a:latin typeface="Calibri"/>
              </a:rPr>
              <a:t>Phase 3
12 months+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0408"/>
                </a:solidFill>
                <a:latin typeface="Calibri"/>
              </a:rPr>
              <a:t>Planner white-label (B2B)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4747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8A9E8C"/>
                </a:solidFill>
                <a:latin typeface="Georgia"/>
              </a:rPr>
              <a:t>$200–500
/month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2062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Wedding planners embed Rendezvous intake + matching on their own sites.
Low CAC, recurring SaaS revenue.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5E5A"/>
                </a:solidFill>
                <a:latin typeface="Calibri"/>
              </a:rPr>
              <a:t>Key principle: vendor ranking is NEVER for sale. Couples trust Rendezvous because their interests always come first.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0A0408"/>
                </a:solidFill>
                <a:latin typeface="Georgia"/>
              </a:rPr>
              <a:t>What we built. What's next.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975116" cy="3175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0408"/>
                </a:solidFill>
                <a:latin typeface="Calibri"/>
              </a:rPr>
              <a:t>Built in 6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E8C"/>
                </a:solidFill>
                <a:latin typeface="Calibri"/>
              </a:rPr>
              <a:t>✓  Full SPA — landing, intake wizard,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7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E8C"/>
                </a:solidFill>
                <a:latin typeface="Calibri"/>
              </a:rPr>
              <a:t>✓  38 curated Vancouver vendors, fully enriched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45535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E8C"/>
                </a:solidFill>
                <a:latin typeface="Calibri"/>
              </a:rPr>
              <a:t>✓  AI scoring engine (budget × capacity × style × setting × culture)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6674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E8C"/>
                </a:solidFill>
                <a:latin typeface="Calibri"/>
              </a:rPr>
              <a:t>✓  Real-time AI vision board via OpenAI gpt-image-1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8795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E8C"/>
                </a:solidFill>
                <a:latin typeface="Calibri"/>
              </a:rPr>
              <a:t>✓  Interactive budget planner — sliders regenerate the scene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5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E8C"/>
                </a:solidFill>
                <a:latin typeface="Calibri"/>
              </a:rPr>
              <a:t>✓  Deployed live on Vercel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508760"/>
            <a:ext cx="12700" cy="4754880"/>
          </a:xfrm>
          <a:prstGeom prst="rect">
            <a:avLst/>
          </a:prstGeom>
          <a:solidFill>
            <a:srgbClr val="E0D4CC"/>
          </a:solidFill>
          <a:ln>
            <a:solidFill>
              <a:srgbClr val="E0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0408"/>
                </a:solidFill>
                <a:latin typeface="Calibri"/>
              </a:rPr>
              <a:t>Go-to-market: Vancouver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03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49A"/>
                </a:solidFill>
                <a:latin typeface="Calibri"/>
              </a:rP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Launch MVP · 38 vendors ·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85292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49A"/>
                </a:solidFill>
                <a:latin typeface="Calibri"/>
              </a:rPr>
              <a:t>Month 1–3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8529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Vancouver bridal expos + Reddit communities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60273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49A"/>
                </a:solidFill>
                <a:latin typeface="Calibri"/>
              </a:rPr>
              <a:t>Month 3–6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60273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SEO content ("best outdoor venues Vancouver under $30k")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35254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49A"/>
                </a:solidFill>
                <a:latin typeface="Calibri"/>
              </a:rPr>
              <a:t>Month 6–12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3525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Paid unlock · first revenue · expand vendor 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1023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49A"/>
                </a:solidFill>
                <a:latin typeface="Calibri"/>
              </a:rPr>
              <a:t>Year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1023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5E5A"/>
                </a:solidFill>
                <a:latin typeface="Calibri"/>
              </a:rPr>
              <a:t>Add cities (Toronto, Calgary) · vendor referral program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0A0408"/>
                </a:solidFill>
                <a:latin typeface="Georgia"/>
              </a:rPr>
              <a:t>The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975116" cy="3175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79871"/>
            <a:ext cx="3383280" cy="3672177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920240" y="2208472"/>
            <a:ext cx="822960" cy="822960"/>
          </a:xfrm>
          <a:prstGeom prst="ellipse">
            <a:avLst/>
          </a:prstGeom>
          <a:solidFill>
            <a:srgbClr val="E8DC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/>
              <a:t>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14312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 b="1" i="0" dirty="0">
                <a:solidFill>
                  <a:srgbClr val="0A0408"/>
                </a:solidFill>
                <a:latin typeface="Calibri"/>
              </a:rPr>
              <a:t>Maggie Yang</a:t>
            </a:r>
            <a:endParaRPr sz="1600" b="1" i="0" dirty="0">
              <a:solidFill>
                <a:srgbClr val="0A0408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3671512"/>
            <a:ext cx="31089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300" b="0" i="0" dirty="0">
                <a:solidFill>
                  <a:srgbClr val="C9A49A"/>
                </a:solidFill>
                <a:latin typeface="Calibri"/>
              </a:rPr>
              <a:t>CEO &amp; Product</a:t>
            </a:r>
            <a:endParaRPr sz="1300" b="0" i="0" dirty="0">
              <a:solidFill>
                <a:srgbClr val="C9A49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4128712"/>
            <a:ext cx="31089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200" b="0" i="0" dirty="0">
                <a:solidFill>
                  <a:srgbClr val="6B5E5A"/>
                </a:solidFill>
                <a:latin typeface="Calibri"/>
              </a:rPr>
              <a:t>Former AI Product Manager at Huawei, where she owned search and analytics platforms across international markets — driving +47% DAU and +107% CTR. MBA from UBC Sauder and Master's from Columbia. Recently planned two 150-guest weddings and lived every pain point this product solves.</a:t>
            </a:r>
            <a:endParaRPr sz="1200" b="0" i="0" dirty="0">
              <a:solidFill>
                <a:srgbClr val="6B5E5A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89119" y="1979872"/>
            <a:ext cx="3383280" cy="3672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669279" y="2208472"/>
            <a:ext cx="822960" cy="822960"/>
          </a:xfrm>
          <a:prstGeom prst="ellipse">
            <a:avLst/>
          </a:prstGeom>
          <a:solidFill>
            <a:srgbClr val="E8DC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/>
              <a:t>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3214312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 b="1" i="0" dirty="0">
                <a:solidFill>
                  <a:srgbClr val="0A0408"/>
                </a:solidFill>
                <a:latin typeface="Calibri"/>
              </a:rPr>
              <a:t>Yelin Fan</a:t>
            </a:r>
            <a:endParaRPr sz="1600" b="1" i="0" dirty="0">
              <a:solidFill>
                <a:srgbClr val="0A0408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26279" y="3671512"/>
            <a:ext cx="31089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300" b="0" i="0" dirty="0">
                <a:solidFill>
                  <a:srgbClr val="C9A49A"/>
                </a:solidFill>
                <a:latin typeface="Calibri"/>
              </a:rPr>
              <a:t>Developer</a:t>
            </a:r>
            <a:endParaRPr sz="1300" b="0" i="0" dirty="0">
              <a:solidFill>
                <a:srgbClr val="C9A49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79" y="4128712"/>
            <a:ext cx="31089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200" b="0" i="0" dirty="0">
                <a:solidFill>
                  <a:srgbClr val="6B5E5A"/>
                </a:solidFill>
                <a:latin typeface="Calibri"/>
              </a:rPr>
              <a:t>Data scientist and engineer with expertise in machine learning, analytics, and full-stack development. Master of Business Analytics from UBC Sauder, B.Sc. from McGill. 4+ years as Senior Analyst at PHSA and former Senior Business Analyst at TELUS Health, building data-driven systems at scale.</a:t>
            </a:r>
            <a:endParaRPr sz="1200" b="0" i="0" dirty="0">
              <a:solidFill>
                <a:srgbClr val="6B5E5A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38158" y="1979872"/>
            <a:ext cx="3383280" cy="3672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18318" y="2208472"/>
            <a:ext cx="822960" cy="822960"/>
          </a:xfrm>
          <a:prstGeom prst="ellipse">
            <a:avLst/>
          </a:prstGeom>
          <a:solidFill>
            <a:srgbClr val="E8DC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17" name="TextBox 16"/>
          <p:cNvSpPr txBox="1"/>
          <p:nvPr/>
        </p:nvSpPr>
        <p:spPr>
          <a:xfrm>
            <a:off x="8275318" y="3214312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 b="1" i="0" dirty="0">
                <a:solidFill>
                  <a:srgbClr val="0A0408"/>
                </a:solidFill>
                <a:latin typeface="Calibri"/>
              </a:rPr>
              <a:t>Kai Li</a:t>
            </a:r>
            <a:endParaRPr sz="1600" b="1" i="0" dirty="0">
              <a:solidFill>
                <a:srgbClr val="0A0408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75318" y="3671512"/>
            <a:ext cx="31089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300" dirty="0">
                <a:solidFill>
                  <a:srgbClr val="C9A49A"/>
                </a:solidFill>
                <a:latin typeface="Calibri"/>
              </a:rPr>
              <a:t>Developer &amp; Business Development</a:t>
            </a:r>
            <a:endParaRPr sz="1300" b="0" i="0" dirty="0">
              <a:solidFill>
                <a:srgbClr val="C9A49A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75318" y="4128712"/>
            <a:ext cx="31089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200" b="0" i="0" dirty="0">
                <a:solidFill>
                  <a:srgbClr val="6B5E5A"/>
                </a:solidFill>
                <a:latin typeface="Calibri"/>
              </a:rPr>
              <a:t>Business analyst with a background in event management and large-scale event operations. Master of Business Analytics from UBC Sauder and Master's from Columbia. Strong in Python, BI, and rapid prototyping. Co-planned two 150-guest weddings — and decided no couple should have to do it without better tools.</a:t>
            </a:r>
            <a:endParaRPr sz="1200" b="0" i="0" dirty="0">
              <a:solidFill>
                <a:srgbClr val="6B5E5A"/>
              </a:solidFill>
              <a:latin typeface="Calibri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E41CEF82-FEA5-1A92-FE7A-714DBD8BBE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400" b="26066"/>
          <a:stretch>
            <a:fillRect/>
          </a:stretch>
        </p:blipFill>
        <p:spPr>
          <a:xfrm>
            <a:off x="9418319" y="2208473"/>
            <a:ext cx="822960" cy="822960"/>
          </a:xfrm>
          <a:prstGeom prst="ellipse">
            <a:avLst/>
          </a:prstGeom>
        </p:spPr>
      </p:pic>
      <p:pic>
        <p:nvPicPr>
          <p:cNvPr id="1026" name="Picture 2" descr="Profile image">
            <a:extLst>
              <a:ext uri="{FF2B5EF4-FFF2-40B4-BE49-F238E27FC236}">
                <a16:creationId xmlns:a16="http://schemas.microsoft.com/office/drawing/2014/main" id="{4AA8AAA7-B0FD-87AE-F775-A6E9C5B5E7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280" y="2208474"/>
            <a:ext cx="822959" cy="82295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ofile image">
            <a:extLst>
              <a:ext uri="{FF2B5EF4-FFF2-40B4-BE49-F238E27FC236}">
                <a16:creationId xmlns:a16="http://schemas.microsoft.com/office/drawing/2014/main" id="{E5C32B1E-6062-03D4-EF11-8D5A2D2184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0239" y="2208474"/>
            <a:ext cx="822960" cy="82296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E12"/>
          </a:solidFill>
          <a:ln>
            <a:solidFill>
              <a:srgbClr val="1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A49A"/>
          </a:solidFill>
          <a:ln>
            <a:solidFill>
              <a:srgbClr val="C9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0" i="1">
                <a:solidFill>
                  <a:srgbClr val="FFFFFF"/>
                </a:solidFill>
                <a:latin typeface="Georgia"/>
              </a:rPr>
              <a:t>When you get engaged,
open Rendezvous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0B0AC"/>
                </a:solidFill>
                <a:latin typeface="Calibri"/>
              </a:rPr>
              <a:t>We're building the default starting point for wedding planning — putting couples first from the very first search.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C9A49A"/>
                </a:solidFill>
                <a:latin typeface="Georgia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76"/>
                </a:solidFill>
                <a:latin typeface="Calibri"/>
              </a:rPr>
              <a:t>to a personalized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572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C9A49A"/>
                </a:solidFill>
                <a:latin typeface="Georgia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5257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76"/>
                </a:solidFill>
                <a:latin typeface="Calibri"/>
              </a:rPr>
              <a:t>Vancouver vendors — ready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572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C9A49A"/>
                </a:solidFill>
                <a:latin typeface="Georgia"/>
              </a:rPr>
              <a:t>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5257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76"/>
                </a:solidFill>
                <a:latin typeface="Calibri"/>
              </a:rPr>
              <a:t>vendor advertising — 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4A48"/>
                </a:solidFill>
                <a:latin typeface="Calibri"/>
              </a:rPr>
              <a:t>Rendezvous  ·  Build-A-Thon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1063</Words>
  <Application>Microsoft Office PowerPoint</Application>
  <PresentationFormat>自定义</PresentationFormat>
  <Paragraphs>141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Kai Li</cp:lastModifiedBy>
  <cp:revision>2</cp:revision>
  <dcterms:created xsi:type="dcterms:W3CDTF">2013-01-27T09:14:16Z</dcterms:created>
  <dcterms:modified xsi:type="dcterms:W3CDTF">2026-03-27T03:38:35Z</dcterms:modified>
  <cp:category/>
</cp:coreProperties>
</file>